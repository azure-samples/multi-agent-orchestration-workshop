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학교에 8명의 AI 동료가 출근한다면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일반계고 현장에서 멀티에이전트 활용하기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30분 · 데모 4건 · 도입 로드맵 포함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선생님이 한 학기 동안 연결하는 업무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수업·평가·학생 성장·진로를 잇는 9가지 업무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4114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22000" dirty="0"/>
          </a:p>
        </p:txBody>
      </p:sp>
      <p:sp>
        <p:nvSpPr>
          <p:cNvPr id="7" name="Text 5"/>
          <p:cNvSpPr/>
          <p:nvPr/>
        </p:nvSpPr>
        <p:spPr>
          <a:xfrm>
            <a:off x="4114800" y="2377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학기 동안 함께 연결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0" y="15544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성취기준 기반 수업안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69680" y="15544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탐구·토론 활동지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21945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고교학점제 과목 선택 안내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69680" y="219456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수행평가 루브릭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28346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행동특성 및 종합의견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69680" y="28346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학생부·대입 상담 자료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34747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진로 상담 기록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69680" y="34747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 안내·민원 응대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0" y="41148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4114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공동교육과정·창체 지도 자료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➤ 중요한 것은 문서의 수가 아니라, 서로 다른 판단을 한 교사가 계속 연결해야 한다는 점입니다.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일반계고 멀티에이전트 활용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AI에 “그냥 한 번 묻기”, 왜 부족한가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번의 답변만으로는 기준·근거·검토 과정이 보이지 않습니다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1663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기준의 일관성 부족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질문에 매번 다른 답.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반·학년·학교 간 표준화 어려움.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0760" y="1463040"/>
            <a:ext cx="51663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49440" y="16916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맥락 반영 부족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2331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교육과정·학생의 상황·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안내 기준이 충분히 반영되지 않음.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51663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251960"/>
            <a:ext cx="502920" cy="502920"/>
          </a:xfrm>
          <a:prstGeom prst="ellips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08760" y="42519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성취기준 연결 미흡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8680" y="489204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교육과정 성취기준·평가기준과 연결되지 않음.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단계 없이 그대로 사용 위험.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0760" y="4023360"/>
            <a:ext cx="51663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4251960"/>
            <a:ext cx="502920" cy="502920"/>
          </a:xfrm>
          <a:prstGeom prst="ellips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49440" y="42519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확인 어려움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09360" y="489204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자료를 바탕으로 했는지,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교사가 다시 확인하기 어려움.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일반계고 멀티에이전트 활용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슈퍼맨 AI ❌  →  AI 교무실 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명에게 다 시키지 말고, 역할이 나뉜 팀을 두자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7E8E0"/>
          </a:solidFill>
          <a:ln w="12700">
            <a:solidFill>
              <a:srgbClr val="C97A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3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슈퍼맨 AI 한 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챗봇이 모든 걸 받아 처리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교사의 검토 과정이 보이지 않음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 근거를 확인하기 어려움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의존도가 너무 높음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판단과 확인 업무가 한 사람에게 집중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E3F1F1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(역할 분담된 팀)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0" y="23774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교과·업무처럼 역할이 쪼개진 AI 동료들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검토·종합 → 확인 과정이 명확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영역별로 정리 → 교사가 다시 확인 가능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프롬프트·데이터셋을 시도 단위로 표준화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교사는 “감독·결정”에 집중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부장교사·담임·교과교사·상담교사·진로진학교사가 따로 있는 이유 — AI도 똑같습니다.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일반계고 멀티에이전트 활용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만나 볼 4명의 AI 교무실 동료들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패턴 = 학교 일과의 익숙한 장면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28900" cy="4389120"/>
          </a:xfrm>
          <a:prstGeom prst="roundRect">
            <a:avLst>
              <a:gd name="adj" fmla="val 4174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2628900" cy="548640"/>
          </a:xfrm>
          <a:prstGeom prst="rect">
            <a:avLst/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2628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Sequential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결재 라인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장면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3657600"/>
            <a:ext cx="171450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931920"/>
            <a:ext cx="22631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교과 탐구 수업·평가 자료 제작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60420" y="1463040"/>
            <a:ext cx="2628900" cy="4389120"/>
          </a:xfrm>
          <a:prstGeom prst="roundRect">
            <a:avLst>
              <a:gd name="adj" fmla="val 4174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60420" y="1463040"/>
            <a:ext cx="2628900" cy="548640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0420" y="1463040"/>
            <a:ext cx="2628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Concurrent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43300" y="237744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학년부 회의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43300" y="310896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장면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17620" y="3657600"/>
            <a:ext cx="171450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3300" y="3931920"/>
            <a:ext cx="22631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학생부 종합의견 작성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1463040"/>
            <a:ext cx="2628900" cy="4389120"/>
          </a:xfrm>
          <a:prstGeom prst="roundRect">
            <a:avLst>
              <a:gd name="adj" fmla="val 4174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463040"/>
            <a:ext cx="2628900" cy="548640"/>
          </a:xfrm>
          <a:prstGeom prst="rect">
            <a:avLst/>
          </a:prstGeom>
          <a:solidFill>
            <a:srgbClr val="7BA7BC"/>
          </a:solidFill>
          <a:ln w="12700">
            <a:solidFill>
              <a:srgbClr val="7BA7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463040"/>
            <a:ext cx="2628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Handoff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237744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학생·학부모 안내 창구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355080" y="310896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장면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29400" y="3657600"/>
            <a:ext cx="171450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931920"/>
            <a:ext cx="22631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학업·생활·진로 통합 안내 챗봇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983980" y="1463040"/>
            <a:ext cx="2628900" cy="4389120"/>
          </a:xfrm>
          <a:prstGeom prst="roundRect">
            <a:avLst>
              <a:gd name="adj" fmla="val 4174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983980" y="1463040"/>
            <a:ext cx="2628900" cy="548640"/>
          </a:xfrm>
          <a:prstGeom prst="rect">
            <a:avLst/>
          </a:prstGeom>
          <a:solidFill>
            <a:srgbClr val="C97A5A"/>
          </a:solidFill>
          <a:ln w="12700">
            <a:solidFill>
              <a:srgbClr val="C97A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83980" y="1463040"/>
            <a:ext cx="2628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Group Chat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66860" y="2377440"/>
            <a:ext cx="2263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진로 협의회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9166860" y="3108960"/>
            <a:ext cx="2263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장면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441180" y="3657600"/>
            <a:ext cx="1714500" cy="0"/>
          </a:xfrm>
          <a:prstGeom prst="line">
            <a:avLst/>
          </a:prstGeom>
          <a:noFill/>
          <a:ln w="12700">
            <a:solidFill>
              <a:srgbClr val="D9D2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66860" y="3931920"/>
            <a:ext cx="22631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선택·대입 진로 협의 시뮬레이션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일반계고 멀티에이전트 활용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① Sequential — “결재 라인처럼”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교과 탐구 수업·평가 자료 제작 파이프라인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4EEE3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상황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일반고 1학년 통합과학에서 “생명 시스템의 정보 흐름” 100분 탐구 수업.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신임 과학 교사가 성취기준·탐구 활동·학습 자료·과정중심평가 루브릭을 한꺼번에 설계해야 합니다.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분업 흐름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2446020" cy="1463040"/>
          </a:xfrm>
          <a:prstGeom prst="roundRect">
            <a:avLst>
              <a:gd name="adj" fmla="val 6250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204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curriculum-mapping-agent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교육과정 성취기준 매핑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평가요소 도출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131820" y="4005072"/>
            <a:ext cx="274320" cy="219456"/>
          </a:xfrm>
          <a:prstGeom prst="rtTriangl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1860" y="3383280"/>
            <a:ext cx="2446020" cy="1463040"/>
          </a:xfrm>
          <a:prstGeom prst="roundRect">
            <a:avLst>
              <a:gd name="adj" fmla="val 6250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89020" y="35204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lesson-design-agent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89020" y="402336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탐구 차시 설계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100분 수업 흐름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943600" y="4005072"/>
            <a:ext cx="274320" cy="219456"/>
          </a:xfrm>
          <a:prstGeom prst="rtTriangl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383280"/>
            <a:ext cx="2446020" cy="1463040"/>
          </a:xfrm>
          <a:prstGeom prst="roundRect">
            <a:avLst>
              <a:gd name="adj" fmla="val 6250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35204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activity-author-agent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402336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탐구 활동지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자료·발문 구성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5400000">
            <a:off x="8755380" y="4005072"/>
            <a:ext cx="274320" cy="219456"/>
          </a:xfrm>
          <a:prstGeom prst="rtTriangl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75420" y="3383280"/>
            <a:ext cx="2446020" cy="1463040"/>
          </a:xfrm>
          <a:prstGeom prst="roundRect">
            <a:avLst>
              <a:gd name="adj" fmla="val 6250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212580" y="35204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assessment-reviewer-agent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12580" y="402336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과정중심평가 루브릭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공정성·자료 검토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 처음부터 끝까지 쓰던 수업 설계를, AI 4명이 결재 라인처럼 차례대로 검토합니다.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일반계고 멀티에이전트 활용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① 결과 — 신임 교사의 첫 탐구 수업 설계가 30분 만에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Sequential 패턴 — 일반계고 성취기준 기반 탐구 수업 제작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</a:t>
            </a:r>
            <a:endParaRPr lang="en-US" sz="9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수업안 + 활동지 + 평가 루브릭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성취기준부터 평가까지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흐름으로 연결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78308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통합과학 성취기준·핵심개념·평가요소 매핑표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DNA 정보 흐름 모형 탐구 활동지·자료 해석 문항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모둠별 탐구 역할·과정 자기점검 체크리스트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산출물(모형 설명 + 근거 기반 결론) 과정중심평가 루브릭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교무실에 던지는 한 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20640" y="4526280"/>
            <a:ext cx="6400800" cy="1645920"/>
          </a:xfrm>
          <a:prstGeom prst="roundRect">
            <a:avLst>
              <a:gd name="adj" fmla="val 6667"/>
            </a:avLst>
          </a:prstGeom>
          <a:solidFill>
            <a:srgbClr val="F4EEE3"/>
          </a:solidFill>
          <a:ln w="12700">
            <a:solidFill>
              <a:srgbClr val="E9A2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46634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“신규 교사가 가장 어려워하는 성취기준-수업-평가 연결” 부담을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교사가 검토자·확정자 역할로 옮겨 줍니다.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일반계고 멀티에이전트 활용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② Concurrent — “학년부 회의처럼”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학생부 종합의견 / 대입 상담 근거 자료 동시 검토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F4EEE3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상황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2학기 말, 담임이 학급 28명의 행동특성 및 종합의견을 작성해야 합니다.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교과학습 / 출결 / 창체·동아리 / 상담·관찰 기록 — 4개 자료를 매번 따로 확인해야 합니다.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83464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944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subject-learning-agent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교과학습 · 탐구 역량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57400" y="3886200"/>
            <a:ext cx="0" cy="548640"/>
          </a:xfrm>
          <a:prstGeom prst="line">
            <a:avLst/>
          </a:prstGeom>
          <a:noFill/>
          <a:ln w="38100">
            <a:solidFill>
              <a:srgbClr val="E9A2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1947672" y="4343400"/>
            <a:ext cx="219456" cy="182880"/>
          </a:xfrm>
          <a:prstGeom prst="rtTriangl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6432" y="283464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47872" y="2944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attendance-agent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47872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출결 · 학교생활 변화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90872" y="3886200"/>
            <a:ext cx="0" cy="548640"/>
          </a:xfrm>
          <a:prstGeom prst="line">
            <a:avLst/>
          </a:prstGeom>
          <a:noFill/>
          <a:ln w="38100">
            <a:solidFill>
              <a:srgbClr val="E9A24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4581144" y="4343400"/>
            <a:ext cx="219456" cy="182880"/>
          </a:xfrm>
          <a:prstGeom prst="rtTriangl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9904" y="283464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81344" y="2944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activity-record-agent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81344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창체 · 동아리 · 봉사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24344" y="3886200"/>
            <a:ext cx="0" cy="548640"/>
          </a:xfrm>
          <a:prstGeom prst="line">
            <a:avLst/>
          </a:prstGeom>
          <a:noFill/>
          <a:ln w="38100">
            <a:solidFill>
              <a:srgbClr val="E9A2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7214616" y="4343400"/>
            <a:ext cx="219456" cy="182880"/>
          </a:xfrm>
          <a:prstGeom prst="rtTriangl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23376" y="283464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814816" y="2944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counseling-observation-agent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14816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· 관찰 · 독서활동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957816" y="3886200"/>
            <a:ext cx="0" cy="548640"/>
          </a:xfrm>
          <a:prstGeom prst="line">
            <a:avLst/>
          </a:prstGeom>
          <a:noFill/>
          <a:ln w="38100">
            <a:solidFill>
              <a:srgbClr val="E9A2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9848088" y="4343400"/>
            <a:ext cx="219456" cy="182880"/>
          </a:xfrm>
          <a:prstGeom prst="rtTriangle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4709160"/>
            <a:ext cx="4846320" cy="914400"/>
          </a:xfrm>
          <a:prstGeom prst="roundRect">
            <a:avLst>
              <a:gd name="adj" fmla="val 10000"/>
            </a:avLst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0" y="4800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student-record-agent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57600" y="5166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트랙 종합 → 종합의견 또는 상담 요약 초안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병렬로 4개 학생 성장 트랙을 동시 점검 → 종합 에이전트가 근거 중심 문단으로 묶어 줍니다.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일반계고 멀티에이전트 활용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② 결과 — 학생의 성장을 네 관점에서 함께 보기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Concurrent 패턴 — 학생부 종합의견·상담 자료 종합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×4</a:t>
            </a:r>
            <a:endParaRPr lang="en-US" sz="9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병렬 자료 트랙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담임 1인이 직렬로 보던 자료를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AI 동료가 동시에 점검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78308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1명당 근거 중심 종합의견 초안 (과장·추정 표현 점검 포함)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 근거가 4개 영역으로 정리 → 담임이 다시 확인 가능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 말 기록 업무가 “근거 확인·확정” 시간으로 전환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학생·학부모 상담용 강점 + 보완점 분리 요약 옵션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교무실에 던지는 한 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20640" y="4526280"/>
            <a:ext cx="6400800" cy="1645920"/>
          </a:xfrm>
          <a:prstGeom prst="roundRect">
            <a:avLst>
              <a:gd name="adj" fmla="val 6667"/>
            </a:avLst>
          </a:prstGeom>
          <a:solidFill>
            <a:srgbClr val="F4EEE3"/>
          </a:solidFill>
          <a:ln w="12700">
            <a:solidFill>
              <a:srgbClr val="E9A2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46634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담임의 기억에만 의존하지 않고, 4개 성장 영역을 함께 살펴보는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학년부 협업 방식으로 바뀝니다.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일반계고 멀티에이전트 활용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③ Handoff — “학생·학부모 안내 창구처럼”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학업·학교생활·진로 문의 — 담당 영역 안내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881360" cy="1188720"/>
          </a:xfrm>
          <a:prstGeom prst="roundRect">
            <a:avLst>
              <a:gd name="adj" fmla="val 9231"/>
            </a:avLst>
          </a:prstGeom>
          <a:solidFill>
            <a:srgbClr val="F4EEE3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상황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“고교학점제 과목 선택”, “학교생활·상담 지원”, “대입과 공동교육과정” — 서로 다른 문의가 한 창구로 들어옵니다.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질문의 성격에 따라 담당 부서와 확인할 자료가 달라, 처음 어디에 문의해야 할지 찾기 어렵습니다.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283464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triage-agent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분류 · 라우팅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academic-support-agent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074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 · 교육과정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선택 · 이수 기준 · 공동교육과정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657600"/>
            <a:ext cx="-3703320" cy="914400"/>
          </a:xfrm>
          <a:prstGeom prst="line">
            <a:avLst/>
          </a:prstGeom>
          <a:noFill/>
          <a:ln w="25400">
            <a:solidFill>
              <a:srgbClr val="E9A2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457200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C97A5A"/>
          </a:solidFill>
          <a:ln w="12700">
            <a:solidFill>
              <a:srgbClr val="C97A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2628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wellbeing-safety-agent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5074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학교생활 · 상담 지원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 갈등 · 적응 · 전문상담 연결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657600"/>
            <a:ext cx="-45720" cy="914400"/>
          </a:xfrm>
          <a:prstGeom prst="line">
            <a:avLst/>
          </a:prstGeom>
          <a:noFill/>
          <a:ln w="25400">
            <a:solidFill>
              <a:srgbClr val="E9A2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457200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7BA7BC"/>
          </a:solidFill>
          <a:ln w="12700">
            <a:solidFill>
              <a:srgbClr val="7BA7B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8388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college-career-agent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5074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대입 · 진로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수시·정시 · 전공 탐색 · 진로 설계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657600"/>
            <a:ext cx="3611880" cy="914400"/>
          </a:xfrm>
          <a:prstGeom prst="line">
            <a:avLst/>
          </a:prstGeom>
          <a:noFill/>
          <a:ln w="25400">
            <a:solidFill>
              <a:srgbClr val="E9A2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질문의 주제를 먼저 분류 → 확인할 안내 자료와 담당 영역을 제시합니다.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일반계고 멀티에이전트 활용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③ 결과 — 한 창구에서 안내하고 필요한 담당자에게 연결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Handoff 패턴 — 학생·학부모 통합 안내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창구</a:t>
            </a:r>
            <a:endParaRPr lang="en-US" sz="9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분류와 안내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문의는 안내하고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상담이 필요한 경우 담당자 연결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78308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선택·이수 기준·공동교육과정 같은 일반 질문은 자동 안내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학교생활·관계 갈등·상담 요청은 관련 안내와 교내 담당자를 함께 제시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대입·진로(수시·정시, 전공 탐색, 진로 변경) 통합 안내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판단이나 전문 상담이 필요한 문의는 담당 교직원이 직접 이어서 확인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교무실에 던지는 한 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20640" y="4526280"/>
            <a:ext cx="6400800" cy="1645920"/>
          </a:xfrm>
          <a:prstGeom prst="roundRect">
            <a:avLst>
              <a:gd name="adj" fmla="val 6667"/>
            </a:avLst>
          </a:prstGeom>
          <a:solidFill>
            <a:srgbClr val="F4EEE3"/>
          </a:solidFill>
          <a:ln w="12700">
            <a:solidFill>
              <a:srgbClr val="E9A2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46634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일반계고 공통 학업·생활·대입 문의를 시도 교육청 단위로 표준화할 수 있는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안내 자료로 발전시키기 좋은 패턴입니다.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일반계고 멀티에이전트 활용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④ Group Chat — “진로 협의회처럼”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선택·대입 진로 협의 시뮬레이션 — 네 명의 시각이 동시에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F4EEE3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상황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일반고 2학년, 자연계열 진학을 희망하지만 물리학Ⅱ·화학Ⅱ·생명과학Ⅱ와 공동교육과정 AI 기초 중 선택이 필요합니다.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학생의 흥미·성취, 희망 전공의 권장과목, 시간표, 학업 부담에 대해 본인·가정·학교의 의견이 엇갈립니다.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분업 흐름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2446020" cy="1463040"/>
          </a:xfrm>
          <a:prstGeom prst="roundRect">
            <a:avLst>
              <a:gd name="adj" fmla="val 6250"/>
            </a:avLst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5204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homeroom-teacher-agent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담임교사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성향·전반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51860" y="3383280"/>
            <a:ext cx="2446020" cy="1463040"/>
          </a:xfrm>
          <a:prstGeom prst="roundRect">
            <a:avLst>
              <a:gd name="adj" fmla="val 6250"/>
            </a:avLst>
          </a:prstGeom>
          <a:solidFill>
            <a:srgbClr val="7BA7BC"/>
          </a:solidFill>
          <a:ln w="12700">
            <a:solidFill>
              <a:srgbClr val="7BA7B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89020" y="35204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subject-teacher-agent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89020" y="402336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교과 교사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학업 성취·교과 적합성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383280"/>
            <a:ext cx="2446020" cy="1463040"/>
          </a:xfrm>
          <a:prstGeom prst="roundRect">
            <a:avLst>
              <a:gd name="adj" fmla="val 6250"/>
            </a:avLst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35204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college-admissions-agent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402336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진로진학 교사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권장과목·대입전형·공동교육과정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5420" y="3383280"/>
            <a:ext cx="2446020" cy="1463040"/>
          </a:xfrm>
          <a:prstGeom prst="roundRect">
            <a:avLst>
              <a:gd name="adj" fmla="val 6250"/>
            </a:avLst>
          </a:prstGeom>
          <a:solidFill>
            <a:srgbClr val="C97A5A"/>
          </a:solidFill>
          <a:ln w="12700">
            <a:solidFill>
              <a:srgbClr val="C97A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12580" y="352044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parent-agent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12580" y="4023360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학부모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학업 부담·가정의 기대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4명이 회의 형태로 토론·합의 → “학교 개설 과목 2개 + 공동교육과정 1개”처럼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 조합과 점검 시점이 명시된 학업계획이 나옵니다.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일반계고 멀티에이전트 활용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④ 결과 — 과목 선택·대입 협의회를 미리 돌려 보고 가기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Group Chat 패턴 — 과목 선택·대입 진로 결정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459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in 1</a:t>
            </a:r>
            <a:endParaRPr lang="en-US" sz="9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 동시 시뮬레이션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담임 · 교과교사 · 진로진학 · 학부모를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자리에 앉히는 효과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78308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 전공·성취·권장과목·학업 부담을 반영한 과목 조합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학기별 점검 시점(예: “2학년 2학기 성취 확인 후 조정”) 명시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학생·가정·학교의 기대와 우려가 표로 정리된 회의 요약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협의회 전에 사전 시뮬레이션 가능 → 회의 시간 단축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교무실에 던지는 한 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20640" y="4526280"/>
            <a:ext cx="6400800" cy="1645920"/>
          </a:xfrm>
          <a:prstGeom prst="roundRect">
            <a:avLst>
              <a:gd name="adj" fmla="val 6667"/>
            </a:avLst>
          </a:prstGeom>
          <a:solidFill>
            <a:srgbClr val="F4EEE3"/>
          </a:solidFill>
          <a:ln w="12700">
            <a:solidFill>
              <a:srgbClr val="E9A24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46634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협의회 전에 여러 과목 조합과 고려 사항을 비교할 수 있습니다.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대화가 막연한 유불리보다 학생의 학업 계획과 확인 근거에 집중됩니다.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일반계고 멀티에이전트 활용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학교 차원의 AI 교무실로 운영해야 하는가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ChatGPT 사용 vs 분업된 AI 팀 — 거버넌스 관점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88136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630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06040" y="14630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챗봇 사용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0" y="14630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(분업)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10881360" cy="777240"/>
          </a:xfrm>
          <a:prstGeom prst="rect">
            <a:avLst/>
          </a:prstGeom>
          <a:solidFill>
            <a:srgbClr val="F4EEE3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402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2402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교사마다 다른 프롬프트 · 다른 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22402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역할별 표준 지시문 · 일관된 산출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0175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단계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06040" y="30175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기준 없이 결과를 바로 사용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0" y="301752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검토 · 종합 = 확인 과정이 명확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10881360" cy="777240"/>
          </a:xfrm>
          <a:prstGeom prst="rect">
            <a:avLst/>
          </a:prstGeom>
          <a:solidFill>
            <a:srgbClr val="F4EEE3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947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추적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06040" y="37947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응답. 어디서 나왔는지 알기 어려움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37947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영역별 근거 정리 · 교사가 재확인 가능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5720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06040" y="45720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챗봇에 학생 정보 입력 위험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0" y="45720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교육청·학교가 승인한 환경에서 활용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349240"/>
            <a:ext cx="10881360" cy="777240"/>
          </a:xfrm>
          <a:prstGeom prst="rect">
            <a:avLst/>
          </a:prstGeom>
          <a:solidFill>
            <a:srgbClr val="F4EEE3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3492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06040" y="53492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교사 개인 노하우에 의존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0" y="53492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시도 단위 표준 프롬프트·데이터셋으로 확산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➤ 역할을 나누면 생성·검토·확정의 경계가 분명해지고, 교사의 최종 판단이 드러납니다.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일반계고 멀티에이전트 활용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17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학교가 오늘부터 시작하는 3단계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학기 안에 실현 가능한 로드맵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444240" cy="411480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37360"/>
            <a:ext cx="344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1188720" y="3429000"/>
            <a:ext cx="2346960" cy="0"/>
          </a:xfrm>
          <a:prstGeom prst="line">
            <a:avLst/>
          </a:prstGeom>
          <a:noFill/>
          <a:ln w="25400">
            <a:solidFill>
              <a:srgbClr val="E9A2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6616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반복되는 문서 1종 선정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43484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학생부 · 탐구 수업안 · 과목 선택 안내문 중 하나. 학교마다 가장 시간을 잡아먹는 항목을 정합니다.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516636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58640" y="1554480"/>
            <a:ext cx="3444240" cy="411480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58640" y="1737360"/>
            <a:ext cx="344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0" dirty="0"/>
          </a:p>
        </p:txBody>
      </p:sp>
      <p:sp>
        <p:nvSpPr>
          <p:cNvPr id="14" name="Shape 12"/>
          <p:cNvSpPr/>
          <p:nvPr/>
        </p:nvSpPr>
        <p:spPr>
          <a:xfrm>
            <a:off x="4907280" y="3429000"/>
            <a:ext cx="2346960" cy="0"/>
          </a:xfrm>
          <a:prstGeom prst="line">
            <a:avLst/>
          </a:prstGeom>
          <a:noFill/>
          <a:ln w="25400">
            <a:solidFill>
              <a:srgbClr val="E9A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2960" y="356616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2~3명 규모의 AI 팀으로 분업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32960" y="443484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Sequential 또는 Concurrent 패턴부터. 교사 1~2명이 “감독·확정” 역할로 시범 운영합니다.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32960" y="516636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77200" y="1554480"/>
            <a:ext cx="3444240" cy="4114800"/>
          </a:xfrm>
          <a:prstGeom prst="roundRect">
            <a:avLst>
              <a:gd name="adj" fmla="val 3186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77200" y="1737360"/>
            <a:ext cx="344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0" dirty="0"/>
          </a:p>
        </p:txBody>
      </p:sp>
      <p:sp>
        <p:nvSpPr>
          <p:cNvPr id="20" name="Shape 18"/>
          <p:cNvSpPr/>
          <p:nvPr/>
        </p:nvSpPr>
        <p:spPr>
          <a:xfrm>
            <a:off x="8625840" y="3429000"/>
            <a:ext cx="2346960" cy="0"/>
          </a:xfrm>
          <a:prstGeom prst="line">
            <a:avLst/>
          </a:prstGeom>
          <a:noFill/>
          <a:ln w="25400">
            <a:solidFill>
              <a:srgbClr val="E9A2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1520" y="356616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시도 단위 표준 프롬프트로 확산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51520" y="443484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교육과정·대입 안내 데이터셋, 공동 프롬프트 라이브러리, 학생정보 보호 원칙과 승인된 활용 환경을 시도 교육청 단위로 마련.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51520" y="516636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E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시작 → 빠르게 검증 → 시도 단위로 확산.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일반계고 멀티에이전트 활용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시도 교육청 · 관리자에게 — 정책 시사점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단위 “AI 교무실”이 모이면 시도 단위 표준이 됩니다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373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표준 교육과정·대입 안내 데이터셋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성취기준·과목 이수·공동교육과정·대입 안내 근거를 시도 단위로 정리하면, 모든 학교가 같은 기준으로 안내합니다.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7373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공동 프롬프트 라이브러리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33172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학생부·과목 선택·대입 진로 시뮬레이션 등 패턴별 표준 지시문을 시도 자산으로 관리. 학교는 미세 조정만.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1605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학생정보 보호 원칙과 승인 환경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학생정보 최소 입력, 가명처리, 권한 관리 원칙을 정하고 교육청·학교가 승인한 환경에서만 활용.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97764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2C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41605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A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모범 사례 공유 채널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475488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패턴 4종 × 교과 × 학년의 작동 사례를 시도 단위 모범 사례로 축적·공유.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교무실 · 일반계고 멀티에이전트 활용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A9C"/>
          </a:solidFill>
          <a:ln w="12700">
            <a:solidFill>
              <a:srgbClr val="2E8A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9A24B"/>
          </a:solidFill>
          <a:ln w="12700">
            <a:solidFill>
              <a:srgbClr val="E9A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학교에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번째로 출근시킬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9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동료는 누구입니까?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914400" y="4937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EEE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워크샵 자료 · 코드: aka.ms/agentframework/workshop/multiagent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교무실 — 일반계고 멀티에이전트 활용</dc:title>
  <dc:subject>PptxGenJS Presentation</dc:subject>
  <dc:creator>Justin Yoo</dc:creator>
  <cp:lastModifiedBy>Justin Yoo</cp:lastModifiedBy>
  <cp:revision>1</cp:revision>
  <dcterms:created xsi:type="dcterms:W3CDTF">2026-07-22T02:31:10Z</dcterms:created>
  <dcterms:modified xsi:type="dcterms:W3CDTF">2026-07-22T02:31:10Z</dcterms:modified>
</cp:coreProperties>
</file>